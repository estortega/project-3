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ec439be77_0_1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ec439be7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bedb19bc9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bedb19bc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ec439be77_0_1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ec439be7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1. Ethnicity Distribution by Age Range {0: 'White', 1: 'Black', 2: 'Other'},</a:t>
            </a:r>
            <a:endParaRPr b="1" sz="135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Purpose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 Shows the distribution of different ethnic groups across various age ranges.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X-axis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 Age ranges (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&lt;50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50-59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60-69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70-79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80-89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90+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Y-axis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 Patient count (ranging from 0 to 400).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Key Observations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The highest patient count (close to 400) appears in the age range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60-69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70-79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suggesting a peak in middle-aged to older adults.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Younger age groups (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&lt;50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) and the oldest (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90+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) have significantly fewer patients.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Ethnicity categories are not explicitly labeled but are likely represented by color segments in each bar (not visible in the text).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ec439be77_0_1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ec439be7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Purpose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 Displays the relationship between age, diabetes status (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0 = No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1 = Yes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), and patient count.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X-axis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 Age ranges (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&lt;50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90+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Y-axis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 Patient count (exact numbers not provided).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Diabetes Status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 Represented by two categories (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Key Observations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Diabetes prevalence (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) likely increases with age, peaking in the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60-69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70-79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 range.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Younger groups (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&lt;50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) have fewer diabetic patients.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Non-diabetic patients (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) may dominate in the youngest and oldest age groups.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ec439be77_0_1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ec439be7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2. Gender Distribution by Age Range  0=male,1=female</a:t>
            </a:r>
            <a:endParaRPr b="1" sz="135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Purpose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 Illustrates the distribution of genders (likely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0 = Female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1 = Male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) across age ranges.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X-axis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 Age ranges (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&lt;50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50-59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60-69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70-79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80-89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90+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Y-axis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 Gender (binary, with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 as categories).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Key Observations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The chart is likely a stacked or grouped bar plot, but exact counts are missing.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Gender proportions appear balanced in most age groups, though the oldest (</a:t>
            </a:r>
            <a:r>
              <a:rPr lang="en" sz="1050">
                <a:solidFill>
                  <a:srgbClr val="F8FAFF"/>
                </a:solidFill>
                <a:highlight>
                  <a:srgbClr val="424242"/>
                </a:highlight>
                <a:latin typeface="Roboto Mono"/>
                <a:ea typeface="Roboto Mono"/>
                <a:cs typeface="Roboto Mono"/>
                <a:sym typeface="Roboto Mono"/>
              </a:rPr>
              <a:t>90+</a:t>
            </a:r>
            <a:r>
              <a:rPr lang="en" sz="1200">
                <a:solidFill>
                  <a:srgbClr val="F8FAFF"/>
                </a:solidFill>
                <a:highlight>
                  <a:srgbClr val="292A2D"/>
                </a:highlight>
                <a:latin typeface="Roboto"/>
                <a:ea typeface="Roboto"/>
                <a:cs typeface="Roboto"/>
                <a:sym typeface="Roboto"/>
              </a:rPr>
              <a:t>) might skew toward one gender (often female).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bedb19bc9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bedb19bc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ec439be77_0_1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4ec439be7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bedb19bc9_0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bedb19bc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20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🧠 </a:t>
            </a:r>
            <a:r>
              <a:rPr lang="en" sz="4400">
                <a:latin typeface="Arial"/>
                <a:ea typeface="Arial"/>
                <a:cs typeface="Arial"/>
                <a:sym typeface="Arial"/>
              </a:rPr>
              <a:t>Alzheimer's Disease Visualization Project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84625" y="4429325"/>
            <a:ext cx="83988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75"/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A Data Analysis and Visualization Project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 </a:t>
            </a:r>
            <a:r>
              <a:rPr lang="en" sz="4400">
                <a:latin typeface="Arial"/>
                <a:ea typeface="Arial"/>
                <a:cs typeface="Arial"/>
                <a:sym typeface="Arial"/>
              </a:rPr>
              <a:t>Project Overview</a:t>
            </a:r>
            <a:endParaRPr/>
          </a:p>
        </p:txBody>
      </p:sp>
      <p:sp>
        <p:nvSpPr>
          <p:cNvPr id="141" name="Google Shape;141;p14"/>
          <p:cNvSpPr txBox="1"/>
          <p:nvPr>
            <p:ph idx="4294967295" type="body"/>
          </p:nvPr>
        </p:nvSpPr>
        <p:spPr>
          <a:xfrm>
            <a:off x="508325" y="1850300"/>
            <a:ext cx="7170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• Analyzed 2,000+ patient records related to Alzheimer Disease.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• Goal: uncover trends in Alzheimer’s </a:t>
            </a:r>
            <a:r>
              <a:rPr lang="en" sz="3200">
                <a:latin typeface="Arial"/>
                <a:ea typeface="Arial"/>
                <a:cs typeface="Arial"/>
                <a:sym typeface="Arial"/>
              </a:rPr>
              <a:t>diagnosis.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• Focus: demographics, cognitive assessments, ethnicity, family history.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• Built an interactive visualization dashboard using Flask &amp; MongoDB.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163725" y="296475"/>
            <a:ext cx="23868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en" sz="2500">
                <a:latin typeface="Arial"/>
                <a:ea typeface="Arial"/>
                <a:cs typeface="Arial"/>
                <a:sym typeface="Arial"/>
              </a:rPr>
              <a:t> Overview</a:t>
            </a:r>
            <a:endParaRPr sz="500"/>
          </a:p>
        </p:txBody>
      </p:sp>
      <p:sp>
        <p:nvSpPr>
          <p:cNvPr id="147" name="Google Shape;147;p15"/>
          <p:cNvSpPr txBox="1"/>
          <p:nvPr>
            <p:ph idx="4294967295" type="body"/>
          </p:nvPr>
        </p:nvSpPr>
        <p:spPr>
          <a:xfrm>
            <a:off x="1163725" y="889225"/>
            <a:ext cx="53262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49">
                <a:latin typeface="Arial"/>
                <a:ea typeface="Arial"/>
                <a:cs typeface="Arial"/>
                <a:sym typeface="Arial"/>
              </a:rPr>
              <a:t>Source</a:t>
            </a:r>
            <a:r>
              <a:rPr lang="en" sz="2549">
                <a:latin typeface="Arial"/>
                <a:ea typeface="Arial"/>
                <a:cs typeface="Arial"/>
                <a:sym typeface="Arial"/>
              </a:rPr>
              <a:t>: Kaggle - Alzheimer’s disease CSV dataset</a:t>
            </a:r>
            <a:endParaRPr sz="254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49">
                <a:latin typeface="Arial"/>
                <a:ea typeface="Arial"/>
                <a:cs typeface="Arial"/>
                <a:sym typeface="Arial"/>
              </a:rPr>
              <a:t>Records</a:t>
            </a:r>
            <a:r>
              <a:rPr lang="en" sz="2549">
                <a:latin typeface="Arial"/>
                <a:ea typeface="Arial"/>
                <a:cs typeface="Arial"/>
                <a:sym typeface="Arial"/>
              </a:rPr>
              <a:t>: 2149 patients</a:t>
            </a:r>
            <a:endParaRPr sz="254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49"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lang="en" sz="2549">
                <a:latin typeface="Arial"/>
                <a:ea typeface="Arial"/>
                <a:cs typeface="Arial"/>
                <a:sym typeface="Arial"/>
              </a:rPr>
              <a:t>: 29 columns</a:t>
            </a:r>
            <a:endParaRPr sz="274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8" name="Google Shape;148;p15"/>
          <p:cNvSpPr txBox="1"/>
          <p:nvPr>
            <p:ph type="title"/>
          </p:nvPr>
        </p:nvSpPr>
        <p:spPr>
          <a:xfrm>
            <a:off x="1163725" y="1652138"/>
            <a:ext cx="44580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Data Storage and </a:t>
            </a:r>
            <a:r>
              <a:rPr lang="en" sz="2500">
                <a:latin typeface="Arial"/>
                <a:ea typeface="Arial"/>
                <a:cs typeface="Arial"/>
                <a:sym typeface="Arial"/>
              </a:rPr>
              <a:t>Processing</a:t>
            </a:r>
            <a:endParaRPr sz="2500"/>
          </a:p>
        </p:txBody>
      </p:sp>
      <p:sp>
        <p:nvSpPr>
          <p:cNvPr id="149" name="Google Shape;149;p15"/>
          <p:cNvSpPr txBox="1"/>
          <p:nvPr/>
        </p:nvSpPr>
        <p:spPr>
          <a:xfrm>
            <a:off x="1163725" y="2139800"/>
            <a:ext cx="5497500" cy="14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MongoDB Integration</a:t>
            </a:r>
            <a:r>
              <a:rPr lang="en">
                <a:solidFill>
                  <a:schemeClr val="lt1"/>
                </a:solidFill>
              </a:rPr>
              <a:t>: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   - Inserted data into MongoDB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</a:rPr>
              <a:t>Cleaning Steps</a:t>
            </a:r>
            <a:r>
              <a:rPr lang="en">
                <a:solidFill>
                  <a:schemeClr val="lt1"/>
                </a:solidFill>
              </a:rPr>
              <a:t>:</a:t>
            </a:r>
            <a:endParaRPr>
              <a:solidFill>
                <a:schemeClr val="lt1"/>
              </a:solidFill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Handled NaNs (</a:t>
            </a:r>
            <a:r>
              <a:rPr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na_values</a:t>
            </a:r>
            <a:r>
              <a:rPr lang="en">
                <a:solidFill>
                  <a:schemeClr val="lt1"/>
                </a:solidFill>
              </a:rPr>
              <a:t>, missing columns dropped)</a:t>
            </a:r>
            <a:endParaRPr>
              <a:solidFill>
                <a:schemeClr val="lt1"/>
              </a:solidFill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>
                <a:solidFill>
                  <a:schemeClr val="lt1"/>
                </a:solidFill>
              </a:rPr>
              <a:t>Encoded categorical variables using </a:t>
            </a:r>
            <a:r>
              <a:rPr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LabelEncoder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15"/>
          <p:cNvSpPr txBox="1"/>
          <p:nvPr>
            <p:ph type="title"/>
          </p:nvPr>
        </p:nvSpPr>
        <p:spPr>
          <a:xfrm>
            <a:off x="1163725" y="3369825"/>
            <a:ext cx="2386800" cy="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Tools</a:t>
            </a:r>
            <a:endParaRPr sz="500"/>
          </a:p>
        </p:txBody>
      </p:sp>
      <p:sp>
        <p:nvSpPr>
          <p:cNvPr id="151" name="Google Shape;151;p15"/>
          <p:cNvSpPr txBox="1"/>
          <p:nvPr>
            <p:ph idx="4294967295" type="body"/>
          </p:nvPr>
        </p:nvSpPr>
        <p:spPr>
          <a:xfrm>
            <a:off x="1249375" y="3874800"/>
            <a:ext cx="53262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21">
                <a:latin typeface="Arial"/>
                <a:ea typeface="Arial"/>
                <a:cs typeface="Arial"/>
                <a:sym typeface="Arial"/>
              </a:rPr>
              <a:t>Python, Pandas, Matplotlib, HTML/CSS </a:t>
            </a:r>
            <a:endParaRPr sz="372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21">
                <a:latin typeface="Arial"/>
                <a:ea typeface="Arial"/>
                <a:cs typeface="Arial"/>
                <a:sym typeface="Arial"/>
              </a:rPr>
              <a:t>Interactive visualization dashboard using flask and mongodb</a:t>
            </a:r>
            <a:endParaRPr sz="367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4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/>
        </p:nvSpPr>
        <p:spPr>
          <a:xfrm>
            <a:off x="906200" y="991625"/>
            <a:ext cx="7167900" cy="3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- </a:t>
            </a:r>
            <a:r>
              <a:rPr lang="en" sz="1500">
                <a:solidFill>
                  <a:schemeClr val="lt1"/>
                </a:solidFill>
              </a:rPr>
              <a:t> We chose this dataset because Alzheimer’s disease is a growing concern worldwide, and understanding it better can really make a difference.​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- </a:t>
            </a:r>
            <a:r>
              <a:rPr lang="en" sz="1500">
                <a:solidFill>
                  <a:schemeClr val="lt1"/>
                </a:solidFill>
              </a:rPr>
              <a:t>This dataset includes important details about patients — like their </a:t>
            </a:r>
            <a:r>
              <a:rPr b="1" lang="en" sz="1500">
                <a:solidFill>
                  <a:schemeClr val="lt1"/>
                </a:solidFill>
              </a:rPr>
              <a:t>age, gender, race, and medical conditions</a:t>
            </a:r>
            <a:r>
              <a:rPr lang="en" sz="1500">
                <a:solidFill>
                  <a:schemeClr val="lt1"/>
                </a:solidFill>
              </a:rPr>
              <a:t> such as diabetes and hypertension.​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These factors are known to be linked to Alzheimer's risk.​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- </a:t>
            </a:r>
            <a:r>
              <a:rPr lang="en" sz="1500">
                <a:solidFill>
                  <a:schemeClr val="lt1"/>
                </a:solidFill>
              </a:rPr>
              <a:t>By exploring this data, we aim to uncover patterns that could help with </a:t>
            </a:r>
            <a:r>
              <a:rPr b="1" lang="en" sz="1500">
                <a:solidFill>
                  <a:schemeClr val="lt1"/>
                </a:solidFill>
              </a:rPr>
              <a:t>early detection</a:t>
            </a:r>
            <a:r>
              <a:rPr lang="en" sz="1500">
                <a:solidFill>
                  <a:schemeClr val="lt1"/>
                </a:solidFill>
              </a:rPr>
              <a:t> and </a:t>
            </a:r>
            <a:r>
              <a:rPr b="1" lang="en" sz="1500">
                <a:solidFill>
                  <a:schemeClr val="lt1"/>
                </a:solidFill>
              </a:rPr>
              <a:t>more targeted care</a:t>
            </a:r>
            <a:r>
              <a:rPr lang="en" sz="1500">
                <a:solidFill>
                  <a:schemeClr val="lt1"/>
                </a:solidFill>
              </a:rPr>
              <a:t>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906200" y="328300"/>
            <a:ext cx="411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Why this data set?</a:t>
            </a:r>
            <a:endParaRPr sz="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75" y="659274"/>
            <a:ext cx="4188202" cy="35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4853200" y="708200"/>
            <a:ext cx="3894900" cy="3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Correlation Matrix of Features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Observations: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- </a:t>
            </a:r>
            <a:r>
              <a:rPr lang="en" sz="1150">
                <a:solidFill>
                  <a:schemeClr val="lt1"/>
                </a:solidFill>
              </a:rPr>
              <a:t>Strong positive correlations appear between </a:t>
            </a:r>
            <a:r>
              <a:rPr i="1" lang="en" sz="1150">
                <a:solidFill>
                  <a:schemeClr val="lt1"/>
                </a:solidFill>
              </a:rPr>
              <a:t>age</a:t>
            </a:r>
            <a:r>
              <a:rPr lang="en" sz="1150">
                <a:solidFill>
                  <a:schemeClr val="lt1"/>
                </a:solidFill>
              </a:rPr>
              <a:t> and </a:t>
            </a:r>
            <a:r>
              <a:rPr i="1" lang="en" sz="1150">
                <a:solidFill>
                  <a:schemeClr val="lt1"/>
                </a:solidFill>
              </a:rPr>
              <a:t>diagnosis status</a:t>
            </a:r>
            <a:r>
              <a:rPr lang="en" sz="1150">
                <a:solidFill>
                  <a:schemeClr val="lt1"/>
                </a:solidFill>
              </a:rPr>
              <a:t>, possibly due to higher Alzheimer’s risk with increasing age.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50">
                <a:solidFill>
                  <a:schemeClr val="lt1"/>
                </a:solidFill>
              </a:rPr>
              <a:t>- Diabetes</a:t>
            </a:r>
            <a:r>
              <a:rPr lang="en" sz="1150">
                <a:solidFill>
                  <a:schemeClr val="lt1"/>
                </a:solidFill>
              </a:rPr>
              <a:t>, </a:t>
            </a:r>
            <a:r>
              <a:rPr i="1" lang="en" sz="1150">
                <a:solidFill>
                  <a:schemeClr val="lt1"/>
                </a:solidFill>
              </a:rPr>
              <a:t>BMI</a:t>
            </a:r>
            <a:r>
              <a:rPr lang="en" sz="1150">
                <a:solidFill>
                  <a:schemeClr val="lt1"/>
                </a:solidFill>
              </a:rPr>
              <a:t>, and </a:t>
            </a:r>
            <a:r>
              <a:rPr i="1" lang="en" sz="1150">
                <a:solidFill>
                  <a:schemeClr val="lt1"/>
                </a:solidFill>
              </a:rPr>
              <a:t>cholesterol</a:t>
            </a:r>
            <a:r>
              <a:rPr lang="en" sz="1150">
                <a:solidFill>
                  <a:schemeClr val="lt1"/>
                </a:solidFill>
              </a:rPr>
              <a:t> levels may show moderate correlations with each other, suggesting a metabolic syndrome pattern.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50">
                <a:solidFill>
                  <a:schemeClr val="lt1"/>
                </a:solidFill>
              </a:rPr>
              <a:t>- MMSE score</a:t>
            </a:r>
            <a:r>
              <a:rPr lang="en" sz="1150">
                <a:solidFill>
                  <a:schemeClr val="lt1"/>
                </a:solidFill>
              </a:rPr>
              <a:t> is likely negatively correlated with </a:t>
            </a:r>
            <a:r>
              <a:rPr i="1" lang="en" sz="1150">
                <a:solidFill>
                  <a:schemeClr val="lt1"/>
                </a:solidFill>
              </a:rPr>
              <a:t>Alzheimer’s diagnosis</a:t>
            </a:r>
            <a:r>
              <a:rPr lang="en" sz="1150">
                <a:solidFill>
                  <a:schemeClr val="lt1"/>
                </a:solidFill>
              </a:rPr>
              <a:t>, as cognitive decline is measured by MMSE.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Potential Insight: You might want to flag highly correlated variables if you're planning on using regression or machine learning models to avoid multicollinearity issues.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25" y="949575"/>
            <a:ext cx="5565749" cy="305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892800" y="1156675"/>
            <a:ext cx="30948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Ethnicity Distribution by Age Range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Observations: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- </a:t>
            </a:r>
            <a:r>
              <a:rPr lang="en" sz="1150">
                <a:solidFill>
                  <a:schemeClr val="lt1"/>
                </a:solidFill>
              </a:rPr>
              <a:t>It appears that some ethnic groups are more represented in older age brackets than others.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- This could be due to demographic trends, socioeconomic status, or healthcare access differences.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Insight: Could influence the fairness of any predictive models or bias the interpretation of disease prevalence by ethnicity.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0750"/>
            <a:ext cx="5716799" cy="29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939700" y="1328625"/>
            <a:ext cx="2938500" cy="282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Patient Count by Age Range and Diabetes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Observations: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- </a:t>
            </a:r>
            <a:r>
              <a:rPr lang="en" sz="1150">
                <a:solidFill>
                  <a:schemeClr val="lt1"/>
                </a:solidFill>
              </a:rPr>
              <a:t>Diabetes appears more prevalent in mid-to-older age ranges.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- There might be a peak in diabetes cases in 60–70-year-olds, which then tapers off (possibly due to comorbidities reducing lifespan).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Insight: Useful for studying diabetes as a risk factor for Alzheimer’s or cognitiv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675" y="920750"/>
            <a:ext cx="5912326" cy="3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6330450" y="937850"/>
            <a:ext cx="25947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Gender Distribution by Age Range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Observations: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- </a:t>
            </a:r>
            <a:r>
              <a:rPr lang="en" sz="1150">
                <a:solidFill>
                  <a:schemeClr val="lt1"/>
                </a:solidFill>
              </a:rPr>
              <a:t>Possibly a higher proportion of females in the older age groups, which is consistent with general population trends due to female longevity.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Insight: Any age-related outcomes (like Alzheimer's diagnosis) should consider this gender skew.</a:t>
            </a:r>
            <a:endParaRPr sz="11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/>
        </p:nvSpPr>
        <p:spPr>
          <a:xfrm>
            <a:off x="422025" y="3500025"/>
            <a:ext cx="75498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What comorbid conditions (e.g., diabetes, hypertension, cardiovascular disease) are most common among diagnosed patients?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7" name="Google Shape;187;p21" title="number_of_patients_with_diabetes__hypertension__and_cardiovascular_diseas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700" y="198850"/>
            <a:ext cx="7700599" cy="29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713625" y="535025"/>
            <a:ext cx="25572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sz="3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713625" y="1294950"/>
            <a:ext cx="7056300" cy="25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32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In conclusion, we found that </a:t>
            </a:r>
            <a:r>
              <a:rPr b="1" lang="en" sz="1600">
                <a:solidFill>
                  <a:schemeClr val="lt1"/>
                </a:solidFill>
              </a:rPr>
              <a:t>age</a:t>
            </a:r>
            <a:r>
              <a:rPr lang="en" sz="1600">
                <a:solidFill>
                  <a:schemeClr val="lt1"/>
                </a:solidFill>
              </a:rPr>
              <a:t> is the most important risk factor for Alzheimer’s disease.​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32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Many patients also have </a:t>
            </a:r>
            <a:r>
              <a:rPr b="1" lang="en" sz="1600">
                <a:solidFill>
                  <a:schemeClr val="lt1"/>
                </a:solidFill>
              </a:rPr>
              <a:t>other health problems</a:t>
            </a:r>
            <a:r>
              <a:rPr lang="en" sz="1600">
                <a:solidFill>
                  <a:schemeClr val="lt1"/>
                </a:solidFill>
              </a:rPr>
              <a:t>, like diabetes and heart disease, which are common among Alzheimer’s patients.​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32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Females</a:t>
            </a:r>
            <a:r>
              <a:rPr lang="en" sz="1600">
                <a:solidFill>
                  <a:schemeClr val="lt1"/>
                </a:solidFill>
              </a:rPr>
              <a:t> in age ranges between 75-84 are more affected.​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32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There are also some differences in </a:t>
            </a:r>
            <a:r>
              <a:rPr b="1" lang="en" sz="1600">
                <a:solidFill>
                  <a:schemeClr val="lt1"/>
                </a:solidFill>
              </a:rPr>
              <a:t>ethnicity</a:t>
            </a:r>
            <a:r>
              <a:rPr lang="en" sz="1600">
                <a:solidFill>
                  <a:schemeClr val="lt1"/>
                </a:solidFill>
              </a:rPr>
              <a:t> when it comes to age groups.​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Our charts helped us see these patterns clearly and understand how important early detection and health awareness can be."</a:t>
            </a:r>
            <a:endParaRPr sz="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lang="en" sz="3640">
                <a:latin typeface="Arial"/>
                <a:ea typeface="Arial"/>
                <a:cs typeface="Arial"/>
                <a:sym typeface="Arial"/>
              </a:rPr>
              <a:t>Thank You!</a:t>
            </a:r>
            <a:endParaRPr sz="3900"/>
          </a:p>
        </p:txBody>
      </p:sp>
      <p:sp>
        <p:nvSpPr>
          <p:cNvPr id="199" name="Google Shape;199;p23"/>
          <p:cNvSpPr txBox="1"/>
          <p:nvPr>
            <p:ph idx="4294967295" type="body"/>
          </p:nvPr>
        </p:nvSpPr>
        <p:spPr>
          <a:xfrm>
            <a:off x="508325" y="1467925"/>
            <a:ext cx="7170600" cy="25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" sz="2040">
                <a:latin typeface="Arial"/>
                <a:ea typeface="Arial"/>
                <a:cs typeface="Arial"/>
                <a:sym typeface="Arial"/>
              </a:rPr>
              <a:t>Group 5</a:t>
            </a:r>
            <a:endParaRPr b="1" sz="20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Haby Sarr,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275"/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Krishna Sigdel,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275"/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Rache Morris,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Esteban Ortega</a:t>
            </a:r>
            <a:endParaRPr b="1" sz="20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b="1" sz="1240">
              <a:latin typeface="Arial"/>
              <a:ea typeface="Arial"/>
              <a:cs typeface="Arial"/>
              <a:sym typeface="Arial"/>
            </a:endParaRPr>
          </a:p>
          <a:p>
            <a:pPr indent="-30734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Arial"/>
              <a:buChar char="●"/>
            </a:pPr>
            <a:r>
              <a:rPr b="1" lang="en" sz="1240">
                <a:latin typeface="Arial"/>
                <a:ea typeface="Arial"/>
                <a:cs typeface="Arial"/>
                <a:sym typeface="Arial"/>
              </a:rPr>
              <a:t>Questions?</a:t>
            </a:r>
            <a:endParaRPr b="1" sz="181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4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